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3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09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9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51718"/>
            <a:ext cx="9144000" cy="5593261"/>
          </a:xfrm>
          <a:custGeom>
            <a:avLst/>
            <a:gdLst/>
            <a:ahLst/>
            <a:cxnLst/>
            <a:rect l="l" t="t" r="r" b="b"/>
            <a:pathLst>
              <a:path w="18288000" h="11186521">
                <a:moveTo>
                  <a:pt x="18288000" y="0"/>
                </a:moveTo>
                <a:lnTo>
                  <a:pt x="0" y="0"/>
                </a:lnTo>
                <a:lnTo>
                  <a:pt x="0" y="11186521"/>
                </a:lnTo>
                <a:lnTo>
                  <a:pt x="18288000" y="11186521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1279" r="-24127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"/>
            <a:ext cx="9144000" cy="5143501"/>
            <a:chOff x="0" y="0"/>
            <a:chExt cx="24903764" cy="153476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55000"/>
            </a:blip>
            <a:srcRect t="3750" b="3750"/>
            <a:stretch>
              <a:fillRect/>
            </a:stretch>
          </p:blipFill>
          <p:spPr>
            <a:xfrm>
              <a:off x="0" y="0"/>
              <a:ext cx="24903764" cy="1534765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275830" y="1363306"/>
            <a:ext cx="4757082" cy="372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8"/>
              </a:lnSpc>
            </a:pPr>
            <a:endParaRPr sz="1600" dirty="0"/>
          </a:p>
          <a:p>
            <a:pPr marL="305855" lvl="1" indent="-152928" algn="just">
              <a:lnSpc>
                <a:spcPts val="4056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 ID – PS-2</a:t>
            </a:r>
          </a:p>
          <a:p>
            <a:pPr marL="305855" lvl="1" indent="-152928" algn="just">
              <a:lnSpc>
                <a:spcPts val="2366"/>
              </a:lnSpc>
              <a:buFont typeface="Arial"/>
              <a:buChar char="•"/>
            </a:pPr>
            <a:r>
              <a:rPr lang="en-US" sz="1600" b="1" spc="-15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 Title - Building a Real-Time, Al- Powered Mobile Application for Early Disease Detection in Cows and Buffaloes</a:t>
            </a:r>
          </a:p>
          <a:p>
            <a:pPr marL="305855" lvl="1" indent="-152928" algn="just">
              <a:lnSpc>
                <a:spcPts val="4056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Theme – HEALTH TECHOLOGY</a:t>
            </a:r>
          </a:p>
          <a:p>
            <a:pPr marL="305855" lvl="1" indent="-152928" algn="just">
              <a:lnSpc>
                <a:spcPts val="4056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PS Category – PS-2</a:t>
            </a:r>
          </a:p>
          <a:p>
            <a:pPr marL="305855" lvl="1" indent="-152928" algn="just">
              <a:lnSpc>
                <a:spcPts val="4056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Team ID – SKB-F26</a:t>
            </a:r>
          </a:p>
          <a:p>
            <a:pPr marL="305855" lvl="1" indent="-152928" algn="just">
              <a:lnSpc>
                <a:spcPts val="4056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Team Name </a:t>
            </a:r>
            <a:r>
              <a:rPr lang="en-US" sz="16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– PANDA</a:t>
            </a:r>
            <a:endParaRPr lang="en-US" sz="16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3860" y="0"/>
            <a:ext cx="8816282" cy="1241399"/>
          </a:xfrm>
          <a:custGeom>
            <a:avLst/>
            <a:gdLst/>
            <a:ahLst/>
            <a:cxnLst/>
            <a:rect l="l" t="t" r="r" b="b"/>
            <a:pathLst>
              <a:path w="17632563" h="2482798">
                <a:moveTo>
                  <a:pt x="0" y="0"/>
                </a:moveTo>
                <a:lnTo>
                  <a:pt x="17632562" y="0"/>
                </a:lnTo>
                <a:lnTo>
                  <a:pt x="17632562" y="2482798"/>
                </a:lnTo>
                <a:lnTo>
                  <a:pt x="0" y="2482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5648" r="-6376" b="-4071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32642" y="621396"/>
            <a:ext cx="3901173" cy="115381"/>
          </a:xfrm>
          <a:custGeom>
            <a:avLst/>
            <a:gdLst/>
            <a:ahLst/>
            <a:cxnLst/>
            <a:rect l="l" t="t" r="r" b="b"/>
            <a:pathLst>
              <a:path w="7802345" h="230761">
                <a:moveTo>
                  <a:pt x="0" y="0"/>
                </a:moveTo>
                <a:lnTo>
                  <a:pt x="7802345" y="0"/>
                </a:lnTo>
                <a:lnTo>
                  <a:pt x="7802345" y="230762"/>
                </a:lnTo>
                <a:lnTo>
                  <a:pt x="0" y="230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52658" b="-221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20121" y="104929"/>
            <a:ext cx="548463" cy="548463"/>
          </a:xfrm>
          <a:custGeom>
            <a:avLst/>
            <a:gdLst/>
            <a:ahLst/>
            <a:cxnLst/>
            <a:rect l="l" t="t" r="r" b="b"/>
            <a:pathLst>
              <a:path w="1096925" h="1096925">
                <a:moveTo>
                  <a:pt x="0" y="0"/>
                </a:moveTo>
                <a:lnTo>
                  <a:pt x="1096925" y="0"/>
                </a:lnTo>
                <a:lnTo>
                  <a:pt x="1096925" y="1096925"/>
                </a:lnTo>
                <a:lnTo>
                  <a:pt x="0" y="1096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5016" y="159075"/>
            <a:ext cx="577702" cy="577702"/>
          </a:xfrm>
          <a:custGeom>
            <a:avLst/>
            <a:gdLst/>
            <a:ahLst/>
            <a:cxnLst/>
            <a:rect l="l" t="t" r="r" b="b"/>
            <a:pathLst>
              <a:path w="1155403" h="1155403">
                <a:moveTo>
                  <a:pt x="0" y="0"/>
                </a:moveTo>
                <a:lnTo>
                  <a:pt x="1155403" y="0"/>
                </a:lnTo>
                <a:lnTo>
                  <a:pt x="1155403" y="1155403"/>
                </a:lnTo>
                <a:lnTo>
                  <a:pt x="0" y="115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10" t="-28500" b="-2740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88949" y="146525"/>
            <a:ext cx="1036058" cy="667941"/>
          </a:xfrm>
          <a:custGeom>
            <a:avLst/>
            <a:gdLst/>
            <a:ahLst/>
            <a:cxnLst/>
            <a:rect l="l" t="t" r="r" b="b"/>
            <a:pathLst>
              <a:path w="2072115" h="1335881">
                <a:moveTo>
                  <a:pt x="0" y="0"/>
                </a:moveTo>
                <a:lnTo>
                  <a:pt x="2072115" y="0"/>
                </a:lnTo>
                <a:lnTo>
                  <a:pt x="2072115" y="1335882"/>
                </a:lnTo>
                <a:lnTo>
                  <a:pt x="0" y="1335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77207" y="713003"/>
            <a:ext cx="5906423" cy="15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964" spc="30">
                <a:solidFill>
                  <a:srgbClr val="EEF8FD"/>
                </a:solidFill>
                <a:latin typeface="Lastica"/>
                <a:ea typeface="Lastica"/>
                <a:cs typeface="Lastica"/>
                <a:sym typeface="Lastica"/>
              </a:rPr>
              <a:t>DEPARTMENT OF COMPUTER SCIENCE AND ENGINEERING &amp; III CELL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9447" y="1554181"/>
            <a:ext cx="2880695" cy="2378907"/>
            <a:chOff x="0" y="0"/>
            <a:chExt cx="7681852" cy="6343750"/>
          </a:xfrm>
        </p:grpSpPr>
        <p:sp>
          <p:nvSpPr>
            <p:cNvPr id="13" name="Freeform 13"/>
            <p:cNvSpPr/>
            <p:nvPr/>
          </p:nvSpPr>
          <p:spPr>
            <a:xfrm>
              <a:off x="566254" y="0"/>
              <a:ext cx="6549344" cy="5042537"/>
            </a:xfrm>
            <a:custGeom>
              <a:avLst/>
              <a:gdLst/>
              <a:ahLst/>
              <a:cxnLst/>
              <a:rect l="l" t="t" r="r" b="b"/>
              <a:pathLst>
                <a:path w="6549344" h="5042537">
                  <a:moveTo>
                    <a:pt x="0" y="0"/>
                  </a:moveTo>
                  <a:lnTo>
                    <a:pt x="6549344" y="0"/>
                  </a:lnTo>
                  <a:lnTo>
                    <a:pt x="6549344" y="5042537"/>
                  </a:lnTo>
                  <a:lnTo>
                    <a:pt x="0" y="504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089" t="-31562" r="-2613" b="-82297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432684"/>
              <a:ext cx="7681852" cy="911067"/>
            </a:xfrm>
            <a:custGeom>
              <a:avLst/>
              <a:gdLst/>
              <a:ahLst/>
              <a:cxnLst/>
              <a:rect l="l" t="t" r="r" b="b"/>
              <a:pathLst>
                <a:path w="7681852" h="911067">
                  <a:moveTo>
                    <a:pt x="0" y="0"/>
                  </a:moveTo>
                  <a:lnTo>
                    <a:pt x="7681852" y="0"/>
                  </a:lnTo>
                  <a:lnTo>
                    <a:pt x="7681852" y="911066"/>
                  </a:lnTo>
                  <a:lnTo>
                    <a:pt x="0" y="91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499" t="-819749" b="-377429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517350" y="-126538"/>
            <a:ext cx="4866281" cy="747933"/>
          </a:xfrm>
          <a:custGeom>
            <a:avLst/>
            <a:gdLst/>
            <a:ahLst/>
            <a:cxnLst/>
            <a:rect l="l" t="t" r="r" b="b"/>
            <a:pathLst>
              <a:path w="9732561" h="1495866">
                <a:moveTo>
                  <a:pt x="0" y="0"/>
                </a:moveTo>
                <a:lnTo>
                  <a:pt x="9732561" y="0"/>
                </a:lnTo>
                <a:lnTo>
                  <a:pt x="9732561" y="1495866"/>
                </a:lnTo>
                <a:lnTo>
                  <a:pt x="0" y="1495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5599" r="-2087" b="-30169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Statement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6576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530352"/>
            <a:ext cx="8869680" cy="4434840"/>
          </a:xfrm>
          <a:prstGeom prst="rect">
            <a:avLst/>
          </a:prstGeom>
          <a:ln w="19050">
            <a:solidFill>
              <a:srgbClr val="7DC9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594360"/>
            <a:ext cx="4206240" cy="42976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658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2D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" y="1024128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3A1A"/>
                </a:solidFill>
              </a:rPr>
              <a:t>Farmers face HUGE losses due to
late detection of livestock diseases.
</a:t>
            </a:r>
            <a:r>
              <a:rPr lang="en-US" sz="1200" b="1" dirty="0">
                <a:solidFill>
                  <a:srgbClr val="3A7D44"/>
                </a:solidFill>
              </a:rPr>
              <a:t>Common Diseases:
</a:t>
            </a:r>
            <a:r>
              <a:rPr lang="en-US" sz="1200" dirty="0">
                <a:solidFill>
                  <a:srgbClr val="1A3A1A"/>
                </a:solidFill>
              </a:rPr>
              <a:t>🔴  Lumpy Skin Disease (LSD)
🔴  Foot and Mouth Disease (FMD)
</a:t>
            </a:r>
            <a:r>
              <a:rPr lang="en-US" sz="1200" b="1" dirty="0">
                <a:solidFill>
                  <a:srgbClr val="3A7D44"/>
                </a:solidFill>
              </a:rPr>
              <a:t>Lack of:
</a:t>
            </a:r>
            <a:r>
              <a:rPr lang="en-US" sz="1200" dirty="0">
                <a:solidFill>
                  <a:srgbClr val="1A3A1A"/>
                </a:solidFill>
              </a:rPr>
              <a:t>❌  Veterinary access in rural areas
❌  Real-time monitoring tools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594360"/>
            <a:ext cx="4206240" cy="42976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0600" y="658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2D"/>
                </a:solidFill>
              </a:rPr>
              <a:t>The Result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0600" y="1078992"/>
            <a:ext cx="402336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11247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💔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349240" y="11247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2D"/>
                </a:solidFill>
              </a:rPr>
              <a:t>Animal Deaths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Thousands lost every year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00600" y="1993392"/>
            <a:ext cx="402336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20391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349240" y="20391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2D"/>
                </a:solidFill>
              </a:rPr>
              <a:t>Economic Loss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49240" y="2331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Farmers lose livelihoods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00600" y="2907792"/>
            <a:ext cx="402336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29535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5349240" y="2953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2D"/>
                </a:solidFill>
              </a:rPr>
              <a:t>No Vet Access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34924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80% rural areas underserved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800600" y="3822192"/>
            <a:ext cx="402336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38679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5349240" y="3867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2D"/>
                </a:solidFill>
              </a:rPr>
              <a:t>Late Detection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34924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Disease spreads before noticed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C00792-8634-3540-B2A0-D8AA4F08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9"/>
            <a:ext cx="9144000" cy="5125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A60837-DB6D-BA47-6B06-8E711FA66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007686"/>
            <a:ext cx="8206740" cy="353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5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873" y="786123"/>
            <a:ext cx="8564254" cy="4154366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49"/>
                </a:lnSpc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66062" y="1750194"/>
            <a:ext cx="2138283" cy="1889346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90422" y="106714"/>
            <a:ext cx="7756195" cy="642530"/>
            <a:chOff x="392627" y="0"/>
            <a:chExt cx="20683186" cy="1713411"/>
          </a:xfrm>
        </p:grpSpPr>
        <p:sp>
          <p:nvSpPr>
            <p:cNvPr id="11" name="TextBox 11"/>
            <p:cNvSpPr txBox="1"/>
            <p:nvPr/>
          </p:nvSpPr>
          <p:spPr>
            <a:xfrm>
              <a:off x="392627" y="342178"/>
              <a:ext cx="2003299" cy="439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0"/>
                </a:lnSpc>
              </a:pPr>
              <a:endParaRPr lang="en-US" sz="102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49"/>
                  </a:lnSpc>
                </a:pPr>
                <a:endParaRPr sz="9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42653" y="434077"/>
              <a:ext cx="13881704" cy="820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3"/>
                </a:lnSpc>
              </a:pPr>
              <a:r>
                <a:rPr lang="en-US" sz="2073" dirty="0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9587867-D9D5-37D2-2C9C-DECEA4D8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88"/>
            <a:ext cx="9144000" cy="51387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28CF26-DA6A-4928-A478-9CB8B71D276B}"/>
              </a:ext>
            </a:extLst>
          </p:cNvPr>
          <p:cNvSpPr txBox="1"/>
          <p:nvPr/>
        </p:nvSpPr>
        <p:spPr>
          <a:xfrm>
            <a:off x="997383" y="238715"/>
            <a:ext cx="41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PANDA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6100E19-4527-09CE-42BD-500B0710B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554106" y="4696784"/>
            <a:ext cx="106247" cy="457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D9B0151-DB9A-44B9-FCF4-FC675E774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73" y="1493928"/>
            <a:ext cx="8364606" cy="2560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Our Solution — PashuRakshak AI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6576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530352"/>
            <a:ext cx="8869680" cy="4434840"/>
          </a:xfrm>
          <a:prstGeom prst="rect">
            <a:avLst/>
          </a:prstGeom>
          <a:ln w="19050">
            <a:solidFill>
              <a:srgbClr val="7DC9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640080"/>
            <a:ext cx="425196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7DC9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6"/>
          <p:cNvSpPr/>
          <p:nvPr/>
        </p:nvSpPr>
        <p:spPr>
          <a:xfrm>
            <a:off x="228600" y="640080"/>
            <a:ext cx="109728" cy="19202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051560" y="777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2D"/>
                </a:solidFill>
              </a:rPr>
              <a:t>AI + Camera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117043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Scan animals to detect early symptoms instantly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640080"/>
            <a:ext cx="425196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7DC9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640080"/>
            <a:ext cx="109728" cy="19202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532120" y="777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2D"/>
                </a:solidFill>
              </a:rPr>
              <a:t>Instant Diagnosis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117043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Get disease probability in seconds on your phone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2743200"/>
            <a:ext cx="425196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7DC9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2743200"/>
            <a:ext cx="109728" cy="19202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📴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1051560" y="2880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2D"/>
                </a:solidFill>
              </a:rPr>
              <a:t>Offline Mode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51560" y="32735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Works without internet — built for rural India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09160" y="2743200"/>
            <a:ext cx="425196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7DC9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09160" y="2743200"/>
            <a:ext cx="109728" cy="19202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463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5532120" y="2880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2D"/>
                </a:solidFill>
              </a:rPr>
              <a:t>Early Alerts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532120" y="32735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Alerts farmers before disease spreads in the herd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28600" y="47091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7D44"/>
                </a:solidFill>
              </a:rPr>
              <a:t>🐄 Smart • Mobile • Offline-First • Rural-Friendly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Features — Pashupatinath AI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6576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530352"/>
            <a:ext cx="8869680" cy="4434840"/>
          </a:xfrm>
          <a:prstGeom prst="rect">
            <a:avLst/>
          </a:prstGeom>
          <a:ln w="19050">
            <a:solidFill>
              <a:srgbClr val="7DC9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01168" y="612648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1168" y="6858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49808" y="685800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AI Disease Detection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9808" y="1033272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LSD, FMD, Mastitis probability scan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82112" y="612648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82112" y="6858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📴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730752" y="685800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Offline-First (Edge AI)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30752" y="1033272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Zero internet needed for rural use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63056" y="612648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63056" y="6858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🐄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711696" y="685800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Herd Risk Intelligence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711696" y="1033272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Outbreak risk from multiple animals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01168" y="2057400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01168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49808" y="21305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Spread Simulator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49808" y="2478024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Predicts how disease spreads over time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182112" y="2057400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18211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730752" y="21305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Real-Time Risk Alerts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730752" y="2478024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Green / Yellow / Red color alerts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63056" y="2057400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63056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711696" y="21305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Simple Symptom Input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711696" y="2478024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One-tap symptom selection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01168" y="3502152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01168" y="35753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749808" y="357530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Actionable Guidance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749808" y="392277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Monitor, isolate, disinfect, call vet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182112" y="3502152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182112" y="35753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👨‍🌾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3730752" y="357530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Farmer-Friendly UI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3730752" y="392277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Big buttons, icons, minimal text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163056" y="3502152"/>
            <a:ext cx="2834640" cy="1316736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163056" y="35753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6711696" y="357530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2D"/>
                </a:solidFill>
              </a:rPr>
              <a:t>Multilingual + Voice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711696" y="392277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A"/>
                </a:solidFill>
              </a:rPr>
              <a:t>Regional languages (future scope)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Technology Stack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6576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530352"/>
            <a:ext cx="8869680" cy="4434840"/>
          </a:xfrm>
          <a:prstGeom prst="rect">
            <a:avLst/>
          </a:prstGeom>
          <a:ln w="19050">
            <a:solidFill>
              <a:srgbClr val="7DC9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658368"/>
            <a:ext cx="1920240" cy="65836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6583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94560" y="914400"/>
            <a:ext cx="274320" cy="1463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68880" y="658368"/>
            <a:ext cx="6355080" cy="658368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06040" y="65836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</a:rPr>
              <a:t>📱  Kotlin / Java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74320" y="1481328"/>
            <a:ext cx="1920240" cy="658368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14813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194560" y="1737360"/>
            <a:ext cx="274320" cy="146304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68880" y="1481328"/>
            <a:ext cx="6355080" cy="658368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68A06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06040" y="148132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</a:rPr>
              <a:t>⚙️  Node.js / Firebase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74320" y="2304288"/>
            <a:ext cx="1920240" cy="65836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Model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194560" y="2560320"/>
            <a:ext cx="274320" cy="146304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468880" y="2304288"/>
            <a:ext cx="6355080" cy="658368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06040" y="230428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</a:rPr>
              <a:t>🧠  TensorFlow / PyTorch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274320" y="3127248"/>
            <a:ext cx="1920240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2194560" y="3383280"/>
            <a:ext cx="27432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468880" y="3127248"/>
            <a:ext cx="6355080" cy="658368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606040" y="312724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</a:rPr>
              <a:t>🗄️  Cloud + Local Storage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274320" y="3950208"/>
            <a:ext cx="1920240" cy="6583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3950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2194560" y="4206240"/>
            <a:ext cx="274320" cy="146304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468880" y="3950208"/>
            <a:ext cx="6355080" cy="658368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606040" y="395020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</a:rPr>
              <a:t>🔌  Weather + Disease Data APIs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Impact &amp; Future Scope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6576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530352"/>
            <a:ext cx="8869680" cy="4434840"/>
          </a:xfrm>
          <a:prstGeom prst="rect">
            <a:avLst/>
          </a:prstGeom>
          <a:ln w="19050">
            <a:solidFill>
              <a:srgbClr val="7DC9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594360"/>
            <a:ext cx="4160520" cy="42976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594360"/>
            <a:ext cx="4160520" cy="402336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5943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Impact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0040" y="1115568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6012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Reduce livestock deaths significantly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011680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20848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👨‍🌾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60120" y="217627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Help farmers take early action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2907792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29809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960120" y="307238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Increase farmer income &amp; stability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3803904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38770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960120" y="39684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Improve rural healthcare access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594360"/>
            <a:ext cx="4160520" cy="42976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7DC9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754880" y="594360"/>
            <a:ext cx="4160520" cy="402336"/>
          </a:xfrm>
          <a:prstGeom prst="rect">
            <a:avLst/>
          </a:prstGeom>
          <a:solidFill>
            <a:srgbClr val="5C9C3C"/>
          </a:solidFill>
          <a:ln w="12700">
            <a:solidFill>
              <a:srgbClr val="5C9C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46320" y="5943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Future Scope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846320" y="1115568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9204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548640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Integration with Govt. veterinary systems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846320" y="2011680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92040" y="20848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5486400" y="217627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IoT wearable devices for animals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846320" y="2907792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29809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5486400" y="307238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National livestock disease database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846320" y="3803904"/>
            <a:ext cx="3977640" cy="749808"/>
          </a:xfrm>
          <a:prstGeom prst="rect">
            <a:avLst/>
          </a:prstGeom>
          <a:solidFill>
            <a:srgbClr val="E8F5E0"/>
          </a:solidFill>
          <a:ln w="9525">
            <a:solidFill>
              <a:srgbClr val="7DC95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92040" y="38770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🐔</a:t>
            </a:r>
            <a:endParaRPr lang="en-US" sz="2200" dirty="0"/>
          </a:p>
        </p:txBody>
      </p:sp>
      <p:sp>
        <p:nvSpPr>
          <p:cNvPr id="38" name="Text 34"/>
          <p:cNvSpPr/>
          <p:nvPr/>
        </p:nvSpPr>
        <p:spPr>
          <a:xfrm>
            <a:off x="5486400" y="39684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</a:rPr>
              <a:t>Expansion to poultry &amp; other animals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09728"/>
            <a:ext cx="658368" cy="59436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74320"/>
            <a:ext cx="2194560" cy="24231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effectLst>
                  <a:glow rad="127000">
                    <a:srgbClr val="88FF88">
                      <a:alpha val="70000"/>
                    </a:srgbClr>
                  </a:glow>
                </a:effectLst>
              </a:rPr>
              <a:t>Thank You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FFCC"/>
                </a:solidFill>
              </a:rPr>
              <a:t>"Protecting Livestock, Empowering Farmers"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914400" y="3931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DAA"/>
                </a:solidFill>
              </a:rPr>
              <a:t>Team PANDA  |  Aavish  •  Dipak  •  Sagar  •  Prajwal  •  Saurabh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</a:rPr>
              <a:t>Sankalp Bharat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418</Words>
  <Application>Microsoft Office PowerPoint</Application>
  <PresentationFormat>On-screen Show (16:9)</PresentationFormat>
  <Paragraphs>113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Gotham Bold</vt:lpstr>
      <vt:lpstr>Intro Rust</vt:lpstr>
      <vt:lpstr>Lastica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sm5963397@gmail.com</cp:lastModifiedBy>
  <cp:revision>6</cp:revision>
  <dcterms:created xsi:type="dcterms:W3CDTF">2026-04-17T10:07:47Z</dcterms:created>
  <dcterms:modified xsi:type="dcterms:W3CDTF">2026-04-17T19:49:16Z</dcterms:modified>
</cp:coreProperties>
</file>